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1A05E2-8C04-3FF4-AB8F-0898005965C9}" v="105" dt="2026-05-24T08:09:25.437"/>
    <p1510:client id="{EFD516AE-46EA-97CA-B602-DC0556CCA4BD}" v="5" dt="2026-05-22T08:58:32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rimozione mirata</c:v>
                </c:pt>
              </c:strCache>
            </c:strRef>
          </c:tx>
          <c:spPr>
            <a:ln w="31750" cap="flat">
              <a:solidFill>
                <a:srgbClr val="C44E5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44E52"/>
              </a:solidFill>
              <a:ln w="9525" cap="flat">
                <a:solidFill>
                  <a:srgbClr val="C44E52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0.22</c:v>
                </c:pt>
                <c:pt idx="2">
                  <c:v>0.43</c:v>
                </c:pt>
                <c:pt idx="3">
                  <c:v>0.57999999999999996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38-4D08-A503-3FD1ECC53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rimozione casuale (media)</c:v>
                </c:pt>
              </c:strCache>
            </c:strRef>
          </c:tx>
          <c:spPr>
            <a:ln w="31750" cap="flat">
              <a:solidFill>
                <a:srgbClr val="47556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75569"/>
              </a:solidFill>
              <a:ln w="9525" cap="flat">
                <a:solidFill>
                  <a:srgbClr val="475569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0.03</c:v>
                </c:pt>
                <c:pt idx="2">
                  <c:v>0.05</c:v>
                </c:pt>
                <c:pt idx="3">
                  <c:v>7.0000000000000007E-2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38-4D08-A503-3FD1ECC534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900" b="0" i="0" u="none" strike="noStrike">
                    <a:solidFill>
                      <a:srgbClr val="000000"/>
                    </a:solidFill>
                    <a:latin typeface="Arial"/>
                  </a:rPr>
                  <a:t>rimozioni cumulative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906EC-296A-4158-9F24-BE49A6B020EC}" type="datetimeFigureOut">
              <a:t>24/05/2026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6975BE-3803-433E-8DFD-613D86735D26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8288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51960"/>
            <a:ext cx="8229600" cy="0"/>
          </a:xfrm>
          <a:prstGeom prst="line">
            <a:avLst/>
          </a:prstGeom>
          <a:noFill/>
          <a:ln w="1905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>
                <a:solidFill>
                  <a:srgbClr val="C9A14A"/>
                </a:solidFill>
                <a:latin typeface="Calibri"/>
                <a:ea typeface="Calibri"/>
                <a:cs typeface="Calibri"/>
              </a:rPr>
              <a:t>PRESENTAZIONE DEL PROGETTO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 dei passaggi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5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delle semifinaliste del Mondiale 2022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rete per squadra · Tre domande · Un finding preliminare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·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 Visualizzazione delle Reti Complesse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·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Rossano Schifanella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Università di Torino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Perché il calcio si presta alla scienza delle reti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passaggio è un arco diretto, pesato, datato e geolocalizzato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L'idea in due frasi.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passaggio definisce una relazione fra due giocatori. 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Aggregando tutti i passaggi di una squadra in un torneo </a:t>
            </a:r>
            <a:endParaRPr lang="en-US" sz="13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otteniamo una rete diretta pesata ad alta densità.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4880" y="192024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ci permette di studiare: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è il giocatore strutturalmente centrale (NS06)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 comunità algoritmiche recuperano i reparti tattici (NS13)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è robusta la squadra alla perdita del giocatore chiave (NS07)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0" y="1280160"/>
            <a:ext cx="0" cy="233172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Reti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dei</a:t>
            </a: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passaggi</a:t>
            </a: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· Mondiale 2022 · Presentazione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dataset: StatsBomb Open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per evento, 120 × 80 m, tutta la coppa del 2022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contiene.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file JSON per partita, una lista cronologica di 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evento on-the-ball: passaggio, tiro, contrasto, 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intercetto, recupero…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passaggio porta con sé: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passa, chi riceve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(x, y) di partenza e arrivo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lunghezza in metri, angolo, altezza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esito (completato / intercettato / fuori)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40680" y="1325880"/>
            <a:ext cx="160020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440680" y="13990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40680" y="192938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9A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0" y="2167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torneo intero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78040" y="1325880"/>
            <a:ext cx="160020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7178040" y="139903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~250k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178040" y="192938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9A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23760" y="216712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tutto il Mondiale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40680" y="2651760"/>
            <a:ext cx="160020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440680" y="27249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57k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440680" y="32552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9A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PASSAGGI COMPLETI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0" y="34930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nostro substrato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78040" y="2651760"/>
            <a:ext cx="1600200" cy="11887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7178040" y="27249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~830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78040" y="3255264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9A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GIOCATORI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23760" y="349300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annotati per ruolo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</a:t>
            </a:r>
            <a:r>
              <a:rPr lang="en-US" sz="105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github.com/statsbomb/open-data</a:t>
            </a: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licenza Open · competition_id = 43, season_id = 106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Reti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dei</a:t>
            </a: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passaggi</a:t>
            </a: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· Mondiale 2022 ·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Presentazione</a:t>
            </a:r>
            <a:endParaRPr lang="en-US" sz="900" dirty="0" err="1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L'unità di analisi: le quattro semifinaliste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rete aggregata per squadra-torneo, 20–23 nodi, 281–314 archi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solo quattro squadre?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Tutte e quattro arrivate in fondo, ma con quattro stili tattici riconoscibili e diversi. </a:t>
            </a:r>
            <a:endParaRPr lang="en-US" sz="12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Quattro è abbastanza per fare confronto, poco per dover sacrificare la profondità di lettura.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920240" cy="21031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91440" cy="2103120"/>
          </a:xfrm>
          <a:prstGeom prst="rect">
            <a:avLst/>
          </a:prstGeom>
          <a:solidFill>
            <a:srgbClr val="75AADB"/>
          </a:solidFill>
          <a:ln w="12700">
            <a:solidFill>
              <a:srgbClr val="75AA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Argentina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A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· Otamendi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3630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giocatori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 archi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3,813 passaggi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587752" y="2331720"/>
            <a:ext cx="1920240" cy="21031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2587752" y="2331720"/>
            <a:ext cx="91440" cy="2103120"/>
          </a:xfrm>
          <a:prstGeom prst="rect">
            <a:avLst/>
          </a:prstGeom>
          <a:solidFill>
            <a:srgbClr val="002395"/>
          </a:solidFill>
          <a:ln w="12700">
            <a:solidFill>
              <a:srgbClr val="00239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770632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Francia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70632" y="2834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23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· Tchouaméni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70632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770632" y="3630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giocatori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70632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314 archi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3,225 passaggi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26864" y="2331720"/>
            <a:ext cx="1920240" cy="21031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626864" y="2331720"/>
            <a:ext cx="91440" cy="2103120"/>
          </a:xfrm>
          <a:prstGeom prst="rect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809744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Croazia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09744" y="2834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· Modrić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9744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4809744" y="3630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giocatori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9744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281 archi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3,796 passaggi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665976" y="2331720"/>
            <a:ext cx="1920240" cy="21031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6665976" y="2331720"/>
            <a:ext cx="91440" cy="2103120"/>
          </a:xfrm>
          <a:prstGeom prst="rect">
            <a:avLst/>
          </a:prstGeom>
          <a:solidFill>
            <a:srgbClr val="006233"/>
          </a:solidFill>
          <a:ln w="12700">
            <a:solidFill>
              <a:srgbClr val="0062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848856" y="24688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Marocco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48856" y="28346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6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· Amrabat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48856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848856" y="36301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giocatori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48856" y="3931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289 archi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2,271 passaggi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Reti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dei</a:t>
            </a: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passaggi</a:t>
            </a: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· Mondiale 2022 · Presentazione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 domande, una storia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domanda attacca un blocco specifico del programma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97480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697480" cy="109728"/>
          </a:xfrm>
          <a:prstGeom prst="rect">
            <a:avLst/>
          </a:prstGeom>
          <a:solidFill>
            <a:srgbClr val="C9A14A"/>
          </a:solidFill>
          <a:ln w="127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77240" y="1645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2157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kern="0" spc="100" dirty="0">
                <a:solidFill>
                  <a:srgbClr val="C9A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Lezione NS06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 è il pivot strutturale?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metriche di centralità per ogni squadra. Cerchiamo le tre figure ricorrenti: il Terminale, il Broker, il Metronomo.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1371600"/>
            <a:ext cx="2697480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3429000" y="1371600"/>
            <a:ext cx="2697480" cy="109728"/>
          </a:xfrm>
          <a:prstGeom prst="rect">
            <a:avLst/>
          </a:prstGeom>
          <a:solidFill>
            <a:srgbClr val="C9A14A"/>
          </a:solidFill>
          <a:ln w="127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657600" y="1645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657600" y="2157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kern="0" spc="100" dirty="0">
                <a:solidFill>
                  <a:srgbClr val="C9A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Lezioni NS13–15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0" y="2560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comunità ≈ i reparti?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Louvain, Leiden, Infomap contro la ground truth tattica (GK/DEF/MID/ATT). NMI, AMI, F1.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2697480" cy="30175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6309360" y="1371600"/>
            <a:ext cx="2697480" cy="109728"/>
          </a:xfrm>
          <a:prstGeom prst="rect">
            <a:avLst/>
          </a:prstGeom>
          <a:solidFill>
            <a:srgbClr val="C9A14A"/>
          </a:solidFill>
          <a:ln w="127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537960" y="1645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537960" y="21579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kern="0" spc="100" dirty="0">
                <a:solidFill>
                  <a:srgbClr val="C9A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Lezioni NS07–08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37960" y="25603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fragile è ogni squadra?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33832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200"/>
              </a:spcAft>
            </a:pPr>
            <a:r>
              <a:rPr lang="en-US" sz="115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Rimozione</a:t>
            </a:r>
            <a:r>
              <a:rPr lang="en-US" sz="115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mirata</a:t>
            </a:r>
            <a:r>
              <a:rPr lang="en-US" sz="115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del pivot vs </a:t>
            </a:r>
            <a:r>
              <a:rPr lang="en-US" sz="115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rimozioni</a:t>
            </a:r>
            <a:r>
              <a:rPr lang="en-US" sz="115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casuali</a:t>
            </a:r>
            <a:r>
              <a:rPr lang="en-US" sz="115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. Δ </a:t>
            </a:r>
            <a:r>
              <a:rPr lang="en-US" sz="115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lunghezza</a:t>
            </a:r>
            <a:r>
              <a:rPr lang="en-US" sz="115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cammini</a:t>
            </a:r>
            <a:r>
              <a:rPr lang="en-US" sz="115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, Δ </a:t>
            </a:r>
            <a:r>
              <a:rPr lang="en-US" sz="115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efficienza</a:t>
            </a:r>
            <a:r>
              <a:rPr lang="en-US" sz="115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. Z-score.</a:t>
            </a:r>
            <a:endParaRPr lang="en-US" sz="1150" dirty="0">
              <a:latin typeface="Calibri"/>
              <a:ea typeface="Calibri"/>
              <a:cs typeface="Calibri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Reti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dei</a:t>
            </a: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passaggi</a:t>
            </a: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· Mondiale 2022 · Presentazione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 · Chi tiene la rete?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centralità, tre figure tattiche ricorrenti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411480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109728" cy="960120"/>
          </a:xfrm>
          <a:prstGeom prst="rect">
            <a:avLst/>
          </a:prstGeom>
          <a:solidFill>
            <a:srgbClr val="006233"/>
          </a:solidFill>
          <a:ln w="12700">
            <a:solidFill>
              <a:srgbClr val="00623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709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in-degree e PageRank, ma betweenness modesta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punto di arrivo della circolazione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411480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09728" cy="960120"/>
          </a:xfrm>
          <a:prstGeom prst="rect">
            <a:avLst/>
          </a:prstGeom>
          <a:solidFill>
            <a:srgbClr val="C9A14A"/>
          </a:solidFill>
          <a:ln w="127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77240" y="2514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807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altissima betweenness, degree moderato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063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fra difesa e attacco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4114800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109728" cy="960120"/>
          </a:xfrm>
          <a:prstGeom prst="rect">
            <a:avLst/>
          </a:prstGeom>
          <a:solidFill>
            <a:srgbClr val="75AADB"/>
          </a:solidFill>
          <a:ln w="12700">
            <a:solidFill>
              <a:srgbClr val="75AAD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777240" y="3611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METRONOMO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904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eigenvector e out-degree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160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distribuisce senza essere il fulcro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13258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Quello che ci aspettiamo di trovare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691640"/>
          <a:ext cx="3703320" cy="16002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Argentina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Otamendi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Paul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Tchouaméni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Mbappé / Rabiot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Croazia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Modrić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Brozović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Amrabat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Ziyech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983480" y="374904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Cinque misure spesso non concordano. Le discordanze sono il dato interessante.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Reti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dei</a:t>
            </a: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passaggi</a:t>
            </a: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· Mondiale 2022 · Presentazione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 · Le comunità riproducono i reparti?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ground truth: GK / DEF / MID / ATT — </a:t>
            </a:r>
            <a:r>
              <a:rPr lang="en-US" sz="1300" i="1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algoritmi</a:t>
            </a:r>
            <a:r>
              <a:rPr lang="en-US" sz="1300" i="1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: Louvain, </a:t>
            </a:r>
            <a:r>
              <a:rPr lang="en-US" sz="1300" i="1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Infomap</a:t>
            </a:r>
            <a:endParaRPr lang="en-US" sz="13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L'esperimento.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algoritmi di community detection sulle quattro reti,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seed ciascuno (per la stabilità), confronto contro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reparti tattici reali con NMI, AMI, F1.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L'ipotesi prudente.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reti dense come queste, gli algoritmi modularity-based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potrebbero NON recuperare le linee tattiche.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25880"/>
            <a:ext cx="3657600" cy="2926080"/>
          </a:xfrm>
          <a:prstGeom prst="rect">
            <a:avLst/>
          </a:prstGeom>
          <a:solidFill>
            <a:srgbClr val="1E3A2D"/>
          </a:solidFill>
          <a:ln w="12700">
            <a:solidFill>
              <a:srgbClr val="1E3A2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166360" y="1417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9A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66360" y="175564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le linee tattiche non vengono recuperate,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66360" y="23774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E5C9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chiediamo all'algoritmo cosa sta vedendo davvero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31089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 ground truth alternative: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 del campo (sinistra / centro / destra)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titolare vs sostituto (&gt;270 minuti)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combinazione lato × reparto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9A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previsione "sbagliata" che porta a una scoperta è il finding migliore.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Reti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dei</a:t>
            </a: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passaggi</a:t>
            </a: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· Mondiale 2022 ·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Presentazione</a:t>
            </a:r>
            <a:endParaRPr lang="en-US" sz="900" dirty="0" err="1"/>
          </a:p>
        </p:txBody>
      </p:sp>
      <p:sp>
        <p:nvSpPr>
          <p:cNvPr id="14" name="Text 12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 · Quanto crolla la rete se le togliamo il pivot?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esperimento Albert–Jeong–Barabási in miniatura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squadra: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rimozione MIRATA del giocatore top-1 per betweenness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rimozione CASUALE di un giocatore di movimento × 200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misuriamo Δ lunghezza media cammini, Δ efficienza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della rimozione mirata sulla distribuzione casuale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estensione naturale: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rimozione cumulativa di top-1, top-2, top-3 (con ricalcolo)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166360" y="1508760"/>
            <a:ext cx="3520440" cy="2697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257800" y="16002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dell'esperimento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5257800" y="1965960"/>
          <a:ext cx="33375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Reti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dei</a:t>
            </a: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passaggi</a:t>
            </a: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· Mondiale 2022 · Presentazione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384048" cy="38404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 lo visualizziamo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514987" y="1054660"/>
            <a:ext cx="4023360" cy="32004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2514987" y="1054660"/>
            <a:ext cx="4023360" cy="502920"/>
          </a:xfrm>
          <a:prstGeom prst="rect">
            <a:avLst/>
          </a:prstGeom>
          <a:solidFill>
            <a:srgbClr val="1E3A2D"/>
          </a:solidFill>
          <a:ln w="12700">
            <a:solidFill>
              <a:srgbClr val="1E3A2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516538" y="1057838"/>
            <a:ext cx="4020259" cy="494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mbria"/>
                <a:ea typeface="Cambria"/>
              </a:rPr>
              <a:t>Idea generale</a:t>
            </a:r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743587" y="17861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Jupyter eseguibili, una figura hero per RQ1, una matrice di confusione per RQ2, gli istogrammi delle 200 rimozioni per RQ3, e una flagship composite finale che lega tutto.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587" y="37521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Reti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dei</a:t>
            </a: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 dirty="0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passaggi</a:t>
            </a:r>
            <a:r>
              <a:rPr lang="en-US" sz="900" dirty="0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· Mondiale 2022 · Presentazione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4846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sintesi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5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siamo, dove vogliamo arrivare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E3A2D"/>
          </a:solidFill>
          <a:ln w="254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1600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solida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2011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rete narrativa naturale, ground truth verificabile, scala adatta al syllabus completo.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600200"/>
            <a:ext cx="502920" cy="502920"/>
          </a:xfrm>
          <a:prstGeom prst="ellipse">
            <a:avLst/>
          </a:prstGeom>
          <a:solidFill>
            <a:srgbClr val="1E3A2D"/>
          </a:solidFill>
          <a:ln w="254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40680" y="1600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funzionante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40680" y="2011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file JSON di StatsBomb → 4 grafi NetworkX pronti in 8 secondi su laptop.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1E3A2D"/>
          </a:solidFill>
          <a:ln w="254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2588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finding già in mano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3566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+0.88 fra dominanza (RQ1) e fragilità (RQ3), su quattro semifinaliste.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3154680"/>
            <a:ext cx="502920" cy="502920"/>
          </a:xfrm>
          <a:prstGeom prst="ellipse">
            <a:avLst/>
          </a:prstGeom>
          <a:solidFill>
            <a:srgbClr val="1E3A2D"/>
          </a:solidFill>
          <a:ln w="254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47548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A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40680" y="31546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chiara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40680" y="3566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e RQ2 da chiudere, poi visualizzazioni e — se possibile — l'app Streamlit.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C9A1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Grazie. Domande?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12700">
            <a:solidFill>
              <a:srgbClr val="C9A1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998</Words>
  <Application>Microsoft Office PowerPoint</Application>
  <PresentationFormat>Presentazione su schermo (16:9)</PresentationFormat>
  <Paragraphs>193</Paragraphs>
  <Slides>10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Reti dei passaggi del Mondiale 2022</dc:title>
  <dc:subject>PptxGenJS Presentation</dc:subject>
  <dc:creator>Università di Torino — Analisi e Visualizzazione delle Reti Complesse</dc:creator>
  <cp:lastModifiedBy>Davide Capra</cp:lastModifiedBy>
  <cp:revision>72</cp:revision>
  <dcterms:created xsi:type="dcterms:W3CDTF">2026-05-22T08:51:34Z</dcterms:created>
  <dcterms:modified xsi:type="dcterms:W3CDTF">2026-05-24T13:02:34Z</dcterms:modified>
</cp:coreProperties>
</file>