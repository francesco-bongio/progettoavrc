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1A05E2-8C04-3FF4-AB8F-0898005965C9}" v="105" dt="2026-05-24T08:09:25.437"/>
    <p1510:client id="{EFD516AE-46EA-97CA-B602-DC0556CCA4BD}" v="5" dt="2026-05-22T08:58:32.8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rimozione mirata</c:v>
                </c:pt>
              </c:strCache>
            </c:strRef>
          </c:tx>
          <c:spPr>
            <a:ln w="31750" cap="flat">
              <a:solidFill>
                <a:srgbClr val="C44E5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44E52"/>
              </a:solidFill>
              <a:ln w="9525" cap="flat">
                <a:solidFill>
                  <a:srgbClr val="C44E52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0.22</c:v>
                </c:pt>
                <c:pt idx="2">
                  <c:v>0.43</c:v>
                </c:pt>
                <c:pt idx="3">
                  <c:v>0.57999999999999996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B38-4D08-A503-3FD1ECC534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rimozione casuale (media)</c:v>
                </c:pt>
              </c:strCache>
            </c:strRef>
          </c:tx>
          <c:spPr>
            <a:ln w="31750" cap="flat">
              <a:solidFill>
                <a:srgbClr val="47556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475569"/>
              </a:solidFill>
              <a:ln w="9525" cap="flat">
                <a:solidFill>
                  <a:srgbClr val="475569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0.03</c:v>
                </c:pt>
                <c:pt idx="2">
                  <c:v>0.05</c:v>
                </c:pt>
                <c:pt idx="3">
                  <c:v>7.0000000000000007E-2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B38-4D08-A503-3FD1ECC534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sz="900" b="0" i="0" u="none" strike="noStrike">
                    <a:solidFill>
                      <a:srgbClr val="000000"/>
                    </a:solidFill>
                    <a:latin typeface="Arial"/>
                  </a:rPr>
                  <a:t>rimozioni cumulative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A906EC-296A-4158-9F24-BE49A6B020EC}" type="datetimeFigureOut">
              <a:t>25/05/2026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6975BE-3803-433E-8DFD-613D86735D26}" type="slidenum"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382887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51960"/>
            <a:ext cx="8229600" cy="0"/>
          </a:xfrm>
          <a:prstGeom prst="line">
            <a:avLst/>
          </a:prstGeom>
          <a:noFill/>
          <a:ln w="19050">
            <a:solidFill>
              <a:srgbClr val="C9A1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0">
                <a:solidFill>
                  <a:srgbClr val="C9A14A"/>
                </a:solidFill>
                <a:latin typeface="Calibri"/>
                <a:ea typeface="Calibri"/>
                <a:cs typeface="Calibri"/>
              </a:rPr>
              <a:t>PRESENTAZIONE DEL PROGETTO</a:t>
            </a:r>
            <a:endParaRPr lang="en-US" sz="1100">
              <a:latin typeface="Calibri"/>
              <a:ea typeface="Calibri"/>
              <a:cs typeface="Calibri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Reti dei passaggi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E5C9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delle semifinaliste del Mondiale 2022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2926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rete per squadra · Tre domande · Un finding preliminare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·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e Visualizzazione delle Reti Complesse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·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Rossano Schifanella</a:t>
            </a: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Università di Torino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9A1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320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1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743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il calcio si presta alla scienza delle reti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passaggio è un arco diretto, pesato, datato e geolocalizzato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L'idea in due frasi.</a:t>
            </a:r>
            <a:endParaRPr lang="en-US" sz="13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passaggio definisce una relazione fra due giocatori. </a:t>
            </a:r>
            <a:endParaRPr lang="en-US" sz="13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Aggregando tutti i passaggi di una squadra in un torneo </a:t>
            </a:r>
            <a:endParaRPr lang="en-US" sz="13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otteniamo una rete diretta pesata ad alta densità.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65760" y="2859258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ci permette di studiare: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è il giocatore strutturalmente centrale (NS06)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 comunità algoritmiche recuperano i reparti tattici (NS13)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è robusta la squadra alla perdita del giocatore chiave (NS07)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949440" y="1280160"/>
            <a:ext cx="0" cy="233172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Text 35"/>
          <p:cNvSpPr/>
          <p:nvPr/>
        </p:nvSpPr>
        <p:spPr>
          <a:xfrm>
            <a:off x="365760" y="48463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Reti </a:t>
            </a:r>
            <a:r>
              <a:rPr lang="en-US" sz="900" dirty="0" err="1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dei</a:t>
            </a:r>
            <a:r>
              <a:rPr lang="en-US" sz="9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dirty="0" err="1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passaggi</a:t>
            </a:r>
            <a:r>
              <a:rPr lang="en-US" sz="9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 · Mondiale 2022 · Presentazione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900" dirty="0"/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2A4C0EFF-F07E-D63C-6411-B341F2CB97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7077" y="1917150"/>
            <a:ext cx="3081163" cy="146921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9A1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320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1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743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dataset: StatsBomb Open Data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 per evento, 120 × 80 m, tutta la coppa del 2022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contiene.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file JSON per partita, una lista cronologica di 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evento on-the-ball: passaggio, tiro, contrasto, 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intercetto, recupero…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passaggio porta con sé:</a:t>
            </a:r>
            <a:endParaRPr lang="en-US" sz="12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passa, chi riceve</a:t>
            </a:r>
            <a:endParaRPr lang="en-US" sz="12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(x, y) di partenza e arrivo</a:t>
            </a:r>
            <a:endParaRPr lang="en-US" sz="12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lunghezza in metri, angolo, altezza</a:t>
            </a:r>
            <a:endParaRPr lang="en-US" sz="12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esito (completato / intercettato / fuori)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40680" y="1325880"/>
            <a:ext cx="1600200" cy="118872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440680" y="139903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3A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40680" y="1929384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C9A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0" y="216712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torneo intero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178040" y="1325880"/>
            <a:ext cx="1600200" cy="118872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7178040" y="139903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3A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~250k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7178040" y="1929384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C9A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223760" y="216712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tutto il Mondiale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40680" y="2651760"/>
            <a:ext cx="1600200" cy="118872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5440680" y="272491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3A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57k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440680" y="3255264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C9A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PASSAGGI COMPLETI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0" y="349300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nostro substrato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178040" y="2651760"/>
            <a:ext cx="1600200" cy="118872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7178040" y="272491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3A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~830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178040" y="3255264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C9A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GIOCATORI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223760" y="349300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annotati per ruolo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</a:t>
            </a:r>
            <a:r>
              <a:rPr lang="en-US" sz="1050" b="1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github.com/statsbomb/open-data</a:t>
            </a: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licenza Open · competition_id = 43, season_id = 106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65760" y="48463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Reti </a:t>
            </a:r>
            <a:r>
              <a:rPr lang="en-US" sz="900" dirty="0" err="1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dei</a:t>
            </a:r>
            <a:r>
              <a:rPr lang="en-US" sz="9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dirty="0" err="1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passaggi</a:t>
            </a:r>
            <a:r>
              <a:rPr lang="en-US" sz="9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 · Mondiale 2022 · </a:t>
            </a:r>
            <a:r>
              <a:rPr lang="en-US" sz="900" dirty="0" err="1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Presentazione</a:t>
            </a:r>
            <a:endParaRPr lang="en-US" sz="900" dirty="0" err="1"/>
          </a:p>
        </p:txBody>
      </p:sp>
      <p:sp>
        <p:nvSpPr>
          <p:cNvPr id="25" name="Text 23"/>
          <p:cNvSpPr/>
          <p:nvPr/>
        </p:nvSpPr>
        <p:spPr>
          <a:xfrm>
            <a:off x="822960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9A1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320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1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743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L'unità di analisi: le quattro semifinaliste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rete aggregata per squadra-torneo, 20–23 nodi, 281–314 archi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solo quattro squadre?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Tutte e quattro arrivate in fondo, ma con quattro stili tattici riconoscibili e diversi. </a:t>
            </a:r>
            <a:endParaRPr lang="en-US" sz="12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Quattro è abbastanza per fare confronto, poco per dover sacrificare la profondità di lettura.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31720"/>
            <a:ext cx="1920240" cy="210312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548640" y="2331720"/>
            <a:ext cx="91440" cy="2103120"/>
          </a:xfrm>
          <a:prstGeom prst="rect">
            <a:avLst/>
          </a:prstGeom>
          <a:solidFill>
            <a:srgbClr val="75AADB"/>
          </a:solidFill>
          <a:ln w="12700">
            <a:solidFill>
              <a:srgbClr val="75AA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731520" y="24688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Argentina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8346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3200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731520" y="36301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giocatori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39319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286 archi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3,813 passaggi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587752" y="2331720"/>
            <a:ext cx="1920240" cy="210312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Shape 13"/>
          <p:cNvSpPr/>
          <p:nvPr/>
        </p:nvSpPr>
        <p:spPr>
          <a:xfrm>
            <a:off x="2587752" y="2331720"/>
            <a:ext cx="91440" cy="2103120"/>
          </a:xfrm>
          <a:prstGeom prst="rect">
            <a:avLst/>
          </a:prstGeom>
          <a:solidFill>
            <a:srgbClr val="002395"/>
          </a:solidFill>
          <a:ln w="12700">
            <a:solidFill>
              <a:srgbClr val="00239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2770632" y="24688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Francia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770632" y="28346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770632" y="3200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2770632" y="36301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giocatori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770632" y="39319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314 archi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3,225 passaggi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26864" y="2331720"/>
            <a:ext cx="1920240" cy="210312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20"/>
          <p:cNvSpPr/>
          <p:nvPr/>
        </p:nvSpPr>
        <p:spPr>
          <a:xfrm>
            <a:off x="4626864" y="2331720"/>
            <a:ext cx="91440" cy="2103120"/>
          </a:xfrm>
          <a:prstGeom prst="rect">
            <a:avLst/>
          </a:prstGeom>
          <a:solidFill>
            <a:srgbClr val="C44E52"/>
          </a:solidFill>
          <a:ln w="12700">
            <a:solidFill>
              <a:srgbClr val="C44E5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4809744" y="24688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Croazia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809744" y="28346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09744" y="3200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4809744" y="36301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giocatori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09744" y="39319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281 archi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3,796 passaggi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665976" y="2331720"/>
            <a:ext cx="1920240" cy="210312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9" name="Shape 27"/>
          <p:cNvSpPr/>
          <p:nvPr/>
        </p:nvSpPr>
        <p:spPr>
          <a:xfrm>
            <a:off x="6665976" y="2331720"/>
            <a:ext cx="91440" cy="2103120"/>
          </a:xfrm>
          <a:prstGeom prst="rect">
            <a:avLst/>
          </a:prstGeom>
          <a:solidFill>
            <a:srgbClr val="006233"/>
          </a:solidFill>
          <a:ln w="12700">
            <a:solidFill>
              <a:srgbClr val="00623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6848856" y="24688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Marocco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848856" y="28346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848856" y="3200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6848856" y="36301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giocatori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848856" y="39319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289 archi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2,271 passaggi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65760" y="48463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Reti </a:t>
            </a:r>
            <a:r>
              <a:rPr lang="en-US" sz="900" dirty="0" err="1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dei</a:t>
            </a:r>
            <a:r>
              <a:rPr lang="en-US" sz="9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dirty="0" err="1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passaggi</a:t>
            </a:r>
            <a:r>
              <a:rPr lang="en-US" sz="9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 · Mondiale 2022 · Presentazione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2960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9A1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320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1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743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domande, una storia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domanda attacca un blocco specifico del programma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2697480" cy="301752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2697480" cy="109728"/>
          </a:xfrm>
          <a:prstGeom prst="rect">
            <a:avLst/>
          </a:prstGeom>
          <a:solidFill>
            <a:srgbClr val="C9A14A"/>
          </a:solidFill>
          <a:ln w="12700">
            <a:solidFill>
              <a:srgbClr val="C9A1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777240" y="1645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3A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RQ1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77240" y="21579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kern="0" spc="100" dirty="0">
                <a:solidFill>
                  <a:srgbClr val="C9A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Lezione NS06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77240" y="25603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è il pivot strutturale?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33832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Cinque metriche di centralità per ogni squadra. Cerchiamo le tre figure ricorrenti: il Terminale, il Broker, il Metronomo.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29000" y="1371600"/>
            <a:ext cx="2697480" cy="301752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3429000" y="1371600"/>
            <a:ext cx="2697480" cy="109728"/>
          </a:xfrm>
          <a:prstGeom prst="rect">
            <a:avLst/>
          </a:prstGeom>
          <a:solidFill>
            <a:srgbClr val="C9A14A"/>
          </a:solidFill>
          <a:ln w="12700">
            <a:solidFill>
              <a:srgbClr val="C9A1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3657600" y="1645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3A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RQ2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3657600" y="21579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kern="0" spc="100" dirty="0">
                <a:solidFill>
                  <a:srgbClr val="C9A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Lezioni NS13–15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657600" y="25603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comunità ≈ i reparti?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657600" y="33832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Louvain, Leiden, Infomap contro la ground truth tattica (GK/DEF/MID/ATT). NMI, AMI, F1.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309360" y="1371600"/>
            <a:ext cx="2697480" cy="301752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Shape 17"/>
          <p:cNvSpPr/>
          <p:nvPr/>
        </p:nvSpPr>
        <p:spPr>
          <a:xfrm>
            <a:off x="6309360" y="1371600"/>
            <a:ext cx="2697480" cy="109728"/>
          </a:xfrm>
          <a:prstGeom prst="rect">
            <a:avLst/>
          </a:prstGeom>
          <a:solidFill>
            <a:srgbClr val="C9A14A"/>
          </a:solidFill>
          <a:ln w="12700">
            <a:solidFill>
              <a:srgbClr val="C9A1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6537960" y="1645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3A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RQ3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537960" y="21579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kern="0" spc="100" dirty="0">
                <a:solidFill>
                  <a:srgbClr val="C9A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Lezioni NS07–08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537960" y="25603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 fragile è ogni squadra?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37960" y="33832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200"/>
              </a:spcAft>
            </a:pPr>
            <a:r>
              <a:rPr lang="en-US" sz="1150" dirty="0" err="1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Rimozione</a:t>
            </a:r>
            <a:r>
              <a:rPr lang="en-US" sz="115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50" dirty="0" err="1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mirata</a:t>
            </a:r>
            <a:r>
              <a:rPr lang="en-US" sz="115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 del pivot vs </a:t>
            </a:r>
            <a:r>
              <a:rPr lang="en-US" sz="1150" dirty="0" err="1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rimozioni</a:t>
            </a:r>
            <a:r>
              <a:rPr lang="en-US" sz="115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50" dirty="0" err="1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casuali</a:t>
            </a:r>
            <a:r>
              <a:rPr lang="en-US" sz="115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. Δ </a:t>
            </a:r>
            <a:r>
              <a:rPr lang="en-US" sz="1150" dirty="0" err="1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lunghezza</a:t>
            </a:r>
            <a:r>
              <a:rPr lang="en-US" sz="115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50" dirty="0" err="1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cammini</a:t>
            </a:r>
            <a:r>
              <a:rPr lang="en-US" sz="115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, Δ </a:t>
            </a:r>
            <a:r>
              <a:rPr lang="en-US" sz="1150" dirty="0" err="1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efficienza</a:t>
            </a:r>
            <a:r>
              <a:rPr lang="en-US" sz="115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. Z-score.</a:t>
            </a:r>
            <a:endParaRPr lang="en-US" sz="1150" dirty="0">
              <a:latin typeface="Calibri"/>
              <a:ea typeface="Calibri"/>
              <a:cs typeface="Calibri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65760" y="48463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Reti </a:t>
            </a:r>
            <a:r>
              <a:rPr lang="en-US" sz="900" dirty="0" err="1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dei</a:t>
            </a:r>
            <a:r>
              <a:rPr lang="en-US" sz="9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dirty="0" err="1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passaggi</a:t>
            </a:r>
            <a:r>
              <a:rPr lang="en-US" sz="9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 · Mondiale 2022 · Presentazione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9A1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320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1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743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RQ1 · Chi tiene la rete?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cinque centralità, tre figure tattiche ricorrenti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4114800" cy="96012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109728" cy="960120"/>
          </a:xfrm>
          <a:prstGeom prst="rect">
            <a:avLst/>
          </a:prstGeom>
          <a:solidFill>
            <a:srgbClr val="006233"/>
          </a:solidFill>
          <a:ln w="12700">
            <a:solidFill>
              <a:srgbClr val="006233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777240" y="1417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TERMINALE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17099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in-degree e PageRank, ma betweenness modesta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659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punto di arrivo della circolazione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2423160"/>
            <a:ext cx="4114800" cy="96012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548640" y="2423160"/>
            <a:ext cx="109728" cy="960120"/>
          </a:xfrm>
          <a:prstGeom prst="rect">
            <a:avLst/>
          </a:prstGeom>
          <a:solidFill>
            <a:srgbClr val="C9A14A"/>
          </a:solidFill>
          <a:ln w="12700">
            <a:solidFill>
              <a:srgbClr val="C9A1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777240" y="25146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BROKER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28072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altissima betweenness, degree moderato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30632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ponte fra difesa e attacco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520440"/>
            <a:ext cx="4114800" cy="96012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548640" y="3520440"/>
            <a:ext cx="109728" cy="960120"/>
          </a:xfrm>
          <a:prstGeom prst="rect">
            <a:avLst/>
          </a:prstGeom>
          <a:solidFill>
            <a:srgbClr val="75AADB"/>
          </a:solidFill>
          <a:ln w="12700">
            <a:solidFill>
              <a:srgbClr val="75AAD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777240" y="36118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METRONOMO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77240" y="39044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eigenvector e out-degree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" y="41605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distribuisce senza essere il fulcro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983480" y="132588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Quello che ci aspettiamo di trovare</a:t>
            </a:r>
            <a:endParaRPr lang="en-US" sz="1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691640"/>
          <a:ext cx="3703320" cy="160020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Broker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Argentina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Otamendi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Paul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Tchouaméni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Mbappé / Rabiot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Croazia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Modrić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Brozović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Marocco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Amrabat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Ziyech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4983480" y="374904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Cinque misure spesso non concordano. Le discordanze sono il dato interessante.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" y="48463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Reti </a:t>
            </a:r>
            <a:r>
              <a:rPr lang="en-US" sz="900" dirty="0" err="1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dei</a:t>
            </a:r>
            <a:r>
              <a:rPr lang="en-US" sz="9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dirty="0" err="1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passaggi</a:t>
            </a:r>
            <a:r>
              <a:rPr lang="en-US" sz="9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 · Mondiale 2022 · Presentazione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2960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9A1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320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1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743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RQ2 · Le comunità riproducono i reparti?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ground truth: GK / DEF / MID / ATT — </a:t>
            </a:r>
            <a:r>
              <a:rPr lang="en-US" sz="1300" i="1" dirty="0" err="1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algoritmi</a:t>
            </a:r>
            <a:r>
              <a:rPr lang="en-US" sz="1300" i="1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: Louvain, </a:t>
            </a:r>
            <a:r>
              <a:rPr lang="en-US" sz="1300" i="1" dirty="0" err="1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Infomap</a:t>
            </a:r>
            <a:endParaRPr lang="en-US" sz="1300" dirty="0" err="1">
              <a:latin typeface="Calibri"/>
              <a:ea typeface="Calibri"/>
              <a:cs typeface="Calibri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L'esperimento.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algoritmi di community detection sulle quattro reti, 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seed ciascuno (per la stabilità), confronto contro 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reparti tattici reali con NMI, AMI, F1.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L'ipotesi prudente.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reti dense come queste, gli algoritmi modularity-based 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potrebbero NON recuperare le linee tattiche.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25880"/>
            <a:ext cx="3657600" cy="2926080"/>
          </a:xfrm>
          <a:prstGeom prst="rect">
            <a:avLst/>
          </a:prstGeom>
          <a:solidFill>
            <a:srgbClr val="1E3A2D"/>
          </a:solidFill>
          <a:ln w="12700">
            <a:solidFill>
              <a:srgbClr val="1E3A2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166360" y="14173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C9A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PIANO B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166360" y="1755648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le linee tattiche non vengono recuperate,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66360" y="237744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E5C9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chiediamo all'algoritmo cosa sta vedendo davvero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12080" y="310896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ground truth alternative: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lato del campo (sinistra / centro / destra)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titolare vs sostituto (&gt;270 minuti)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combinazione lato × reparto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9A1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previsione "sbagliata" che porta a una scoperta è il finding migliore.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5760" y="48463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Reti </a:t>
            </a:r>
            <a:r>
              <a:rPr lang="en-US" sz="900" dirty="0" err="1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dei</a:t>
            </a:r>
            <a:r>
              <a:rPr lang="en-US" sz="9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dirty="0" err="1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passaggi</a:t>
            </a:r>
            <a:r>
              <a:rPr lang="en-US" sz="9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 · Mondiale 2022 · </a:t>
            </a:r>
            <a:r>
              <a:rPr lang="en-US" sz="900" dirty="0" err="1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Presentazione</a:t>
            </a:r>
            <a:endParaRPr lang="en-US" sz="900" dirty="0" err="1"/>
          </a:p>
        </p:txBody>
      </p:sp>
      <p:sp>
        <p:nvSpPr>
          <p:cNvPr id="14" name="Text 12"/>
          <p:cNvSpPr/>
          <p:nvPr/>
        </p:nvSpPr>
        <p:spPr>
          <a:xfrm>
            <a:off x="822960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9A14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320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1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743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RQ3 · Quanto crolla la rete se le togliamo il pivot?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esperimento Albert–Jeong–Barabási in miniatura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43891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squadra: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rimozione MIRATA del giocatore top-1 per betweenness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rimozione CASUALE di un giocatore di movimento × 200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misuriamo Δ lunghezza media cammini, Δ efficienza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della rimozione mirata sulla distribuzione casuale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estensione naturale:</a:t>
            </a:r>
            <a:endParaRPr lang="en-US" sz="12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rimozione cumulativa di top-1, top-2, top-3 (con ricalcolo)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166360" y="1508760"/>
            <a:ext cx="3520440" cy="269748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5257800" y="160020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dell'esperimento</a:t>
            </a:r>
            <a:endParaRPr lang="en-US" sz="110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5257800" y="1965960"/>
          <a:ext cx="333756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 7"/>
          <p:cNvSpPr/>
          <p:nvPr/>
        </p:nvSpPr>
        <p:spPr>
          <a:xfrm>
            <a:off x="365760" y="48463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Reti </a:t>
            </a:r>
            <a:r>
              <a:rPr lang="en-US" sz="900" dirty="0" err="1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dei</a:t>
            </a:r>
            <a:r>
              <a:rPr lang="en-US" sz="9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dirty="0" err="1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passaggi</a:t>
            </a:r>
            <a:r>
              <a:rPr lang="en-US" sz="9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 · Mondiale 2022 · Presentazione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9A14A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3" name="Text 1"/>
          <p:cNvSpPr/>
          <p:nvPr/>
        </p:nvSpPr>
        <p:spPr>
          <a:xfrm>
            <a:off x="365760" y="320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1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743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400" dirty="0"/>
              <a:t>Strategia di Visualizzazione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1" y="1054660"/>
            <a:ext cx="7315199" cy="3200400"/>
          </a:xfrm>
          <a:prstGeom prst="rect">
            <a:avLst/>
          </a:prstGeom>
          <a:solidFill>
            <a:srgbClr val="FFFFFF"/>
          </a:solidFill>
          <a:ln w="889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it-IT" b="1" dirty="0"/>
          </a:p>
          <a:p>
            <a:endParaRPr lang="it-IT" b="1" dirty="0"/>
          </a:p>
          <a:p>
            <a:r>
              <a:rPr lang="it-IT" b="1" dirty="0"/>
              <a:t>Hero Figures Statiche (RQ1):</a:t>
            </a:r>
            <a:r>
              <a:rPr lang="it-IT" dirty="0"/>
              <a:t> Mappe spaziali su </a:t>
            </a:r>
            <a:r>
              <a:rPr lang="it-IT" dirty="0" err="1"/>
              <a:t>grid</a:t>
            </a:r>
            <a:r>
              <a:rPr lang="it-IT" dirty="0"/>
              <a:t> 2x2. I nodi sono posizionati sulle coordinate medie reali (</a:t>
            </a:r>
            <a:r>
              <a:rPr lang="it-IT" dirty="0" err="1"/>
              <a:t>x,y</a:t>
            </a:r>
            <a:r>
              <a:rPr lang="it-IT" dirty="0"/>
              <a:t>) sul campo. La grandezza del nodo evidenzia la sua </a:t>
            </a:r>
            <a:r>
              <a:rPr lang="it-IT" i="1" dirty="0" err="1"/>
              <a:t>Betweenness</a:t>
            </a:r>
            <a:r>
              <a:rPr lang="it-IT" dirty="0"/>
              <a:t>.</a:t>
            </a:r>
          </a:p>
          <a:p>
            <a:r>
              <a:rPr lang="it-IT" b="1" dirty="0"/>
              <a:t>Matrici e </a:t>
            </a:r>
            <a:r>
              <a:rPr lang="it-IT" b="1" dirty="0" err="1"/>
              <a:t>Heatmaps</a:t>
            </a:r>
            <a:r>
              <a:rPr lang="it-IT" b="1" dirty="0"/>
              <a:t> (RQ2):</a:t>
            </a:r>
            <a:r>
              <a:rPr lang="it-IT" dirty="0"/>
              <a:t> </a:t>
            </a:r>
            <a:r>
              <a:rPr lang="it-IT" dirty="0" err="1"/>
              <a:t>Heatmap</a:t>
            </a:r>
            <a:r>
              <a:rPr lang="it-IT" dirty="0"/>
              <a:t> per visualizzare le divergenze di centralità e matrici di confusione per confrontare gli algoritmi con la </a:t>
            </a:r>
            <a:r>
              <a:rPr lang="it-IT" i="1" dirty="0"/>
              <a:t>Ground Truth</a:t>
            </a:r>
            <a:r>
              <a:rPr lang="it-IT" dirty="0"/>
              <a:t> tattica.</a:t>
            </a:r>
          </a:p>
          <a:p>
            <a:r>
              <a:rPr lang="it-IT" b="1" dirty="0"/>
              <a:t>Curve di Robustezza (RQ3): </a:t>
            </a:r>
            <a:r>
              <a:rPr lang="it-IT" dirty="0"/>
              <a:t>Istogrammi delle 200 rimozioni casuali con evidenziata la caduta d'efficienza del pivot.</a:t>
            </a:r>
          </a:p>
        </p:txBody>
      </p:sp>
      <p:sp>
        <p:nvSpPr>
          <p:cNvPr id="7" name="Shape 5"/>
          <p:cNvSpPr/>
          <p:nvPr/>
        </p:nvSpPr>
        <p:spPr>
          <a:xfrm>
            <a:off x="914400" y="1054660"/>
            <a:ext cx="7315200" cy="502920"/>
          </a:xfrm>
          <a:prstGeom prst="rect">
            <a:avLst/>
          </a:prstGeom>
          <a:solidFill>
            <a:srgbClr val="1E3A2D"/>
          </a:solidFill>
          <a:ln w="12700">
            <a:solidFill>
              <a:srgbClr val="1E3A2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/>
          <p:nvPr/>
        </p:nvSpPr>
        <p:spPr>
          <a:xfrm>
            <a:off x="2516538" y="1057838"/>
            <a:ext cx="4020259" cy="494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Cambria"/>
                <a:ea typeface="Cambria"/>
              </a:rPr>
              <a:t>Idea generale</a:t>
            </a:r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2743587" y="178618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587" y="37521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65760" y="48463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Reti </a:t>
            </a:r>
            <a:r>
              <a:rPr lang="en-US" sz="900" dirty="0" err="1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dei</a:t>
            </a:r>
            <a:r>
              <a:rPr lang="en-US" sz="9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dirty="0" err="1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passaggi</a:t>
            </a:r>
            <a:r>
              <a:rPr lang="en-US" sz="900" dirty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 · Mondiale 2022 · Presentazione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0" y="48463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3A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C0ADACB7-FA1D-C3F2-0855-A4C61F66616E}"/>
              </a:ext>
            </a:extLst>
          </p:cNvPr>
          <p:cNvSpPr txBox="1"/>
          <p:nvPr/>
        </p:nvSpPr>
        <p:spPr>
          <a:xfrm>
            <a:off x="1273126" y="1774095"/>
            <a:ext cx="6495757" cy="1595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500"/>
              </a:spcAft>
              <a:buNone/>
            </a:pPr>
            <a:r>
              <a:rPr lang="it-IT" sz="4000" b="1" i="0" dirty="0">
                <a:solidFill>
                  <a:schemeClr val="bg1"/>
                </a:solidFill>
                <a:effectLst/>
                <a:latin typeface="Crimson Pro"/>
              </a:rPr>
              <a:t>Grazie </a:t>
            </a:r>
            <a:r>
              <a:rPr lang="it-IT" sz="4000" b="1">
                <a:solidFill>
                  <a:schemeClr val="bg1"/>
                </a:solidFill>
                <a:latin typeface="Crimson Pro"/>
              </a:rPr>
              <a:t>per </a:t>
            </a:r>
            <a:r>
              <a:rPr lang="it-IT" sz="4000" b="1" u="sng">
                <a:solidFill>
                  <a:schemeClr val="bg1"/>
                </a:solidFill>
                <a:latin typeface="Crimson Pro"/>
              </a:rPr>
              <a:t>l’</a:t>
            </a:r>
            <a:r>
              <a:rPr lang="it-IT" sz="4000" b="1" i="0" u="sng">
                <a:solidFill>
                  <a:schemeClr val="bg1"/>
                </a:solidFill>
                <a:effectLst/>
                <a:latin typeface="Crimson Pro"/>
              </a:rPr>
              <a:t>attenzione</a:t>
            </a:r>
            <a:endParaRPr lang="it-IT" sz="4000" b="1" i="0" u="sng" dirty="0">
              <a:solidFill>
                <a:schemeClr val="bg1"/>
              </a:solidFill>
              <a:effectLst/>
              <a:latin typeface="Crimson Pro"/>
            </a:endParaRPr>
          </a:p>
          <a:p>
            <a:pPr algn="ctr">
              <a:spcBef>
                <a:spcPts val="1125"/>
              </a:spcBef>
              <a:buNone/>
            </a:pPr>
            <a:r>
              <a:rPr lang="it-IT" b="1" i="0" dirty="0"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Public Sans"/>
              </a:rPr>
              <a:t>Siamo aperti a domande e suggerimenti sulla metodologia proposta.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956</Words>
  <Application>Microsoft Office PowerPoint</Application>
  <PresentationFormat>Presentazione su schermo (16:9)</PresentationFormat>
  <Paragraphs>180</Paragraphs>
  <Slides>10</Slides>
  <Notes>10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6" baseType="lpstr">
      <vt:lpstr>Arial</vt:lpstr>
      <vt:lpstr>Calibri</vt:lpstr>
      <vt:lpstr>Cambria</vt:lpstr>
      <vt:lpstr>Crimson Pro</vt:lpstr>
      <vt:lpstr>Public Sans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Reti dei passaggi del Mondiale 2022</dc:title>
  <dc:subject>PptxGenJS Presentation</dc:subject>
  <dc:creator>Università di Torino — Analisi e Visualizzazione delle Reti Complesse</dc:creator>
  <cp:lastModifiedBy>Davide Capra</cp:lastModifiedBy>
  <cp:revision>74</cp:revision>
  <dcterms:created xsi:type="dcterms:W3CDTF">2026-05-22T08:51:34Z</dcterms:created>
  <dcterms:modified xsi:type="dcterms:W3CDTF">2026-05-25T13:37:31Z</dcterms:modified>
</cp:coreProperties>
</file>